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828800"/>
            <a:ext cx="155448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2A9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MARTINREA AP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6384" y="201168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Processing Workflow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2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data flow and invoice status lifecycle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Ingestion  -&gt;  OCR  -&gt;  Review  -&gt;  2-Way Match  -&gt;  Approval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0807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June 24,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42416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42416"/>
            <a:ext cx="12191695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Martinrea AP  |  Invoice Processing Workflow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Martinrea AP platform automates accounts-payable invoice processing from capture to approval. Invoices arrive through multiple channels, are validated and OCR-extracted, matched against purchase orders, and routed for approval - with every step driven by a strict invoice-status state machine and a full audit trail.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395728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487168"/>
            <a:ext cx="91440" cy="21031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523744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Ingestion service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" y="2926080"/>
            <a:ext cx="224028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Captures invoices from Email, SFTP and Web upload.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files and stores accepted vs rejected in blob storage.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64992" y="2395728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64992" y="2487168"/>
            <a:ext cx="91440" cy="2103120"/>
          </a:xfrm>
          <a:prstGeom prst="rect">
            <a:avLst/>
          </a:prstGeom>
          <a:solidFill>
            <a:srgbClr val="E08A00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523744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service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2926080"/>
            <a:ext cx="224028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 + parsing, review, 2-way match, approval routing.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Owns the invoice-status state machine and audit log.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27064" y="2395728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27064" y="2487168"/>
            <a:ext cx="91440" cy="21031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6428232" y="2523744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Integrations service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28232" y="2926080"/>
            <a:ext cx="224028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CFDI / SAT validation for Mexican invoices.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Epicor PO and goods-receipt sync.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89136" y="2395728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89136" y="2487168"/>
            <a:ext cx="91440" cy="2103120"/>
          </a:xfrm>
          <a:prstGeom prst="rect">
            <a:avLst/>
          </a:prstGeom>
          <a:solidFill>
            <a:srgbClr val="566B76"/>
          </a:solidFill>
          <a:ln/>
        </p:spPr>
      </p:sp>
      <p:sp>
        <p:nvSpPr>
          <p:cNvPr id="23" name="Text 21"/>
          <p:cNvSpPr/>
          <p:nvPr/>
        </p:nvSpPr>
        <p:spPr>
          <a:xfrm>
            <a:off x="9290304" y="2523744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frontend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90304" y="2926080"/>
            <a:ext cx="224028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dashboard for AP clerks and approvers.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workbench, match workbench, approvals queue.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493776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stores: PostgreSQL (workflow + OCR schemas) and blob storage (raw / quarantine document folders).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42416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42416"/>
            <a:ext cx="12191695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Invoice Journey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Martinrea AP  |  Invoice Processing Workflow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stage advances the invoice status. Color shows where the invoice stands.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1627632" cy="13716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359152"/>
            <a:ext cx="82296" cy="1225296"/>
          </a:xfrm>
          <a:prstGeom prst="rect">
            <a:avLst/>
          </a:prstGeom>
          <a:solidFill>
            <a:srgbClr val="566B76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" y="2322576"/>
            <a:ext cx="1353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/ SFTP / Web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" y="3291840"/>
            <a:ext cx="1298448" cy="274320"/>
          </a:xfrm>
          <a:prstGeom prst="roundRect">
            <a:avLst>
              <a:gd name="adj" fmla="val 20000"/>
            </a:avLst>
          </a:prstGeom>
          <a:solidFill>
            <a:srgbClr val="566B76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329184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57984" y="2971800"/>
            <a:ext cx="228600" cy="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020824" y="264261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+ store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14016" y="2286000"/>
            <a:ext cx="1627632" cy="13716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14016" y="2359152"/>
            <a:ext cx="82296" cy="1225296"/>
          </a:xfrm>
          <a:prstGeom prst="rect">
            <a:avLst/>
          </a:prstGeom>
          <a:solidFill>
            <a:srgbClr val="E08A00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0" y="2322576"/>
            <a:ext cx="1353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 fields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78608" y="3291840"/>
            <a:ext cx="1298448" cy="274320"/>
          </a:xfrm>
          <a:prstGeom prst="roundRect">
            <a:avLst>
              <a:gd name="adj" fmla="val 20000"/>
            </a:avLst>
          </a:prstGeom>
          <a:solidFill>
            <a:srgbClr val="E08A00"/>
          </a:solidFill>
          <a:ln/>
        </p:spPr>
      </p:sp>
      <p:sp>
        <p:nvSpPr>
          <p:cNvPr id="20" name="Text 18"/>
          <p:cNvSpPr/>
          <p:nvPr/>
        </p:nvSpPr>
        <p:spPr>
          <a:xfrm>
            <a:off x="2578608" y="329184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OCR_PROCESSING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069080" y="2971800"/>
            <a:ext cx="228600" cy="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931920" y="264261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auto-pull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325112" y="2286000"/>
            <a:ext cx="1627632" cy="13716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25112" y="2359152"/>
            <a:ext cx="82296" cy="1225296"/>
          </a:xfrm>
          <a:prstGeom prst="rect">
            <a:avLst/>
          </a:prstGeom>
          <a:solidFill>
            <a:srgbClr val="E08A00"/>
          </a:solidFill>
          <a:ln/>
        </p:spPr>
      </p:sp>
      <p:sp>
        <p:nvSpPr>
          <p:cNvPr id="25" name="Text 23"/>
          <p:cNvSpPr/>
          <p:nvPr/>
        </p:nvSpPr>
        <p:spPr>
          <a:xfrm>
            <a:off x="4471416" y="2322576"/>
            <a:ext cx="1353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clerk verifies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89704" y="3291840"/>
            <a:ext cx="1298448" cy="274320"/>
          </a:xfrm>
          <a:prstGeom prst="roundRect">
            <a:avLst>
              <a:gd name="adj" fmla="val 20000"/>
            </a:avLst>
          </a:prstGeom>
          <a:solidFill>
            <a:srgbClr val="E08A00"/>
          </a:solidFill>
          <a:ln/>
        </p:spPr>
      </p:sp>
      <p:sp>
        <p:nvSpPr>
          <p:cNvPr id="27" name="Text 25"/>
          <p:cNvSpPr/>
          <p:nvPr/>
        </p:nvSpPr>
        <p:spPr>
          <a:xfrm>
            <a:off x="4489704" y="329184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PENDING_REVIEW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80176" y="2971800"/>
            <a:ext cx="228600" cy="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843016" y="264261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to match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36208" y="2286000"/>
            <a:ext cx="1627632" cy="13716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36208" y="2359152"/>
            <a:ext cx="82296" cy="1225296"/>
          </a:xfrm>
          <a:prstGeom prst="rect">
            <a:avLst/>
          </a:prstGeom>
          <a:solidFill>
            <a:srgbClr val="E08A00"/>
          </a:solidFill>
          <a:ln/>
        </p:spPr>
      </p:sp>
      <p:sp>
        <p:nvSpPr>
          <p:cNvPr id="32" name="Text 30"/>
          <p:cNvSpPr/>
          <p:nvPr/>
        </p:nvSpPr>
        <p:spPr>
          <a:xfrm>
            <a:off x="6382512" y="2322576"/>
            <a:ext cx="1353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2-Way Match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vs PO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3291840"/>
            <a:ext cx="1298448" cy="274320"/>
          </a:xfrm>
          <a:prstGeom prst="roundRect">
            <a:avLst>
              <a:gd name="adj" fmla="val 20000"/>
            </a:avLst>
          </a:prstGeom>
          <a:solidFill>
            <a:srgbClr val="E08A00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329184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PENDING_MATCH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891272" y="2971800"/>
            <a:ext cx="228600" cy="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7754112" y="264261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match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147304" y="2286000"/>
            <a:ext cx="1627632" cy="13716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47304" y="2359152"/>
            <a:ext cx="82296" cy="1225296"/>
          </a:xfrm>
          <a:prstGeom prst="rect">
            <a:avLst/>
          </a:prstGeom>
          <a:solidFill>
            <a:srgbClr val="E08A00"/>
          </a:solidFill>
          <a:ln/>
        </p:spPr>
      </p:sp>
      <p:sp>
        <p:nvSpPr>
          <p:cNvPr id="39" name="Text 37"/>
          <p:cNvSpPr/>
          <p:nvPr/>
        </p:nvSpPr>
        <p:spPr>
          <a:xfrm>
            <a:off x="8293608" y="2322576"/>
            <a:ext cx="1353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routed by rules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311896" y="3291840"/>
            <a:ext cx="1298448" cy="274320"/>
          </a:xfrm>
          <a:prstGeom prst="roundRect">
            <a:avLst>
              <a:gd name="adj" fmla="val 20000"/>
            </a:avLst>
          </a:prstGeom>
          <a:solidFill>
            <a:srgbClr val="E08A00"/>
          </a:solidFill>
          <a:ln/>
        </p:spPr>
      </p:sp>
      <p:sp>
        <p:nvSpPr>
          <p:cNvPr id="41" name="Text 39"/>
          <p:cNvSpPr/>
          <p:nvPr/>
        </p:nvSpPr>
        <p:spPr>
          <a:xfrm>
            <a:off x="8311896" y="329184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PENDING_APPROVAL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802368" y="2971800"/>
            <a:ext cx="228600" cy="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9665208" y="264261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sign off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0058400" y="2286000"/>
            <a:ext cx="1627632" cy="13716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058400" y="2359152"/>
            <a:ext cx="82296" cy="122529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6" name="Text 44"/>
          <p:cNvSpPr/>
          <p:nvPr/>
        </p:nvSpPr>
        <p:spPr>
          <a:xfrm>
            <a:off x="10204704" y="2322576"/>
            <a:ext cx="1353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to pay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0222992" y="3291840"/>
            <a:ext cx="1298448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48" name="Text 46"/>
          <p:cNvSpPr/>
          <p:nvPr/>
        </p:nvSpPr>
        <p:spPr>
          <a:xfrm>
            <a:off x="10222992" y="329184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292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Off-ramps at any stage: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02920" y="448056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fails -&gt; file quarantined (never enters the workflow).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Duplicate or unreadable scan -&gt; DUPLICATE_INVOICE / FAILED.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 discrepancy -&gt; EXCEPTION (fix and retry, or reject).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Approver rejects -&gt; REJECTED, returned to review for rework.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02920" y="6355080"/>
            <a:ext cx="237744" cy="164592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52" name="Text 50"/>
          <p:cNvSpPr/>
          <p:nvPr/>
        </p:nvSpPr>
        <p:spPr>
          <a:xfrm>
            <a:off x="795528" y="628192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/ Approved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670048" y="6355080"/>
            <a:ext cx="237744" cy="164592"/>
          </a:xfrm>
          <a:prstGeom prst="roundRect">
            <a:avLst>
              <a:gd name="adj" fmla="val 16667"/>
            </a:avLst>
          </a:prstGeom>
          <a:solidFill>
            <a:srgbClr val="E08A00"/>
          </a:solidFill>
          <a:ln/>
        </p:spPr>
      </p:sp>
      <p:sp>
        <p:nvSpPr>
          <p:cNvPr id="54" name="Text 52"/>
          <p:cNvSpPr/>
          <p:nvPr/>
        </p:nvSpPr>
        <p:spPr>
          <a:xfrm>
            <a:off x="2962656" y="628192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37176" y="6355080"/>
            <a:ext cx="237744" cy="164592"/>
          </a:xfrm>
          <a:prstGeom prst="roundRect">
            <a:avLst>
              <a:gd name="adj" fmla="val 16667"/>
            </a:avLst>
          </a:prstGeom>
          <a:solidFill>
            <a:srgbClr val="C62828"/>
          </a:solidFill>
          <a:ln/>
        </p:spPr>
      </p:sp>
      <p:sp>
        <p:nvSpPr>
          <p:cNvPr id="56" name="Text 54"/>
          <p:cNvSpPr/>
          <p:nvPr/>
        </p:nvSpPr>
        <p:spPr>
          <a:xfrm>
            <a:off x="5129784" y="628192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Rejected / Dead-end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004304" y="6355080"/>
            <a:ext cx="237744" cy="164592"/>
          </a:xfrm>
          <a:prstGeom prst="roundRect">
            <a:avLst>
              <a:gd name="adj" fmla="val 16667"/>
            </a:avLst>
          </a:prstGeom>
          <a:solidFill>
            <a:srgbClr val="566B76"/>
          </a:solidFill>
          <a:ln/>
        </p:spPr>
      </p:sp>
      <p:sp>
        <p:nvSpPr>
          <p:cNvPr id="58" name="Text 56"/>
          <p:cNvSpPr/>
          <p:nvPr/>
        </p:nvSpPr>
        <p:spPr>
          <a:xfrm>
            <a:off x="7296912" y="628192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Pre-status / system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42416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42416"/>
            <a:ext cx="12191695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FITS TOGETHER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Martinrea AP  |  Invoice Processing Workflow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61104" y="1325880"/>
            <a:ext cx="3657600" cy="640080"/>
          </a:xfrm>
          <a:prstGeom prst="roundRect">
            <a:avLst>
              <a:gd name="adj" fmla="val 8571"/>
            </a:avLst>
          </a:prstGeom>
          <a:solidFill>
            <a:srgbClr val="EAEEF2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61104" y="1399032"/>
            <a:ext cx="82296" cy="493776"/>
          </a:xfrm>
          <a:prstGeom prst="rect">
            <a:avLst/>
          </a:prstGeom>
          <a:solidFill>
            <a:srgbClr val="566B76"/>
          </a:solidFill>
          <a:ln/>
        </p:spPr>
      </p:sp>
      <p:sp>
        <p:nvSpPr>
          <p:cNvPr id="10" name="Text 8"/>
          <p:cNvSpPr/>
          <p:nvPr/>
        </p:nvSpPr>
        <p:spPr>
          <a:xfrm>
            <a:off x="4407408" y="1362456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Frontend (Next.js dashboard)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9904" y="1993392"/>
            <a:ext cx="0" cy="45720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8008" y="2560320"/>
            <a:ext cx="3383280" cy="1508760"/>
          </a:xfrm>
          <a:prstGeom prst="roundRect">
            <a:avLst>
              <a:gd name="adj" fmla="val 3636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8008" y="2651760"/>
            <a:ext cx="91440" cy="13258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719176" y="2688336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Ingestion service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9176" y="3090672"/>
            <a:ext cx="30175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/ SFTP / Web channels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-&gt; blob raw/ or quarantine/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04208" y="2560320"/>
            <a:ext cx="3383280" cy="1508760"/>
          </a:xfrm>
          <a:prstGeom prst="roundRect">
            <a:avLst>
              <a:gd name="adj" fmla="val 3636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04208" y="2651760"/>
            <a:ext cx="91440" cy="1325880"/>
          </a:xfrm>
          <a:prstGeom prst="rect">
            <a:avLst/>
          </a:prstGeom>
          <a:solidFill>
            <a:srgbClr val="E08A00"/>
          </a:solidFill>
          <a:ln/>
        </p:spPr>
      </p:sp>
      <p:sp>
        <p:nvSpPr>
          <p:cNvPr id="18" name="Text 16"/>
          <p:cNvSpPr/>
          <p:nvPr/>
        </p:nvSpPr>
        <p:spPr>
          <a:xfrm>
            <a:off x="4605376" y="2688336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service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05376" y="3090672"/>
            <a:ext cx="30175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OCR, review, match, approvals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state machine + audit log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90408" y="2560320"/>
            <a:ext cx="3383280" cy="1508760"/>
          </a:xfrm>
          <a:prstGeom prst="roundRect">
            <a:avLst>
              <a:gd name="adj" fmla="val 3636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90408" y="2651760"/>
            <a:ext cx="91440" cy="13258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8491576" y="2688336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Integrations service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91576" y="3090672"/>
            <a:ext cx="30175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CFDI / SAT validation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Epicor PO + goods-receipt sync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8008" y="452628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8008" y="4599432"/>
            <a:ext cx="82296" cy="7223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6" name="Text 24"/>
          <p:cNvSpPr/>
          <p:nvPr/>
        </p:nvSpPr>
        <p:spPr>
          <a:xfrm>
            <a:off x="664312" y="4562856"/>
            <a:ext cx="310896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Blob storage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raw/ (accepted)  ·  quarantine/ (rejected)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04208" y="452628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04208" y="4599432"/>
            <a:ext cx="82296" cy="722376"/>
          </a:xfrm>
          <a:prstGeom prst="rect">
            <a:avLst/>
          </a:prstGeom>
          <a:solidFill>
            <a:srgbClr val="E08A00"/>
          </a:solidFill>
          <a:ln/>
        </p:spPr>
      </p:sp>
      <p:sp>
        <p:nvSpPr>
          <p:cNvPr id="29" name="Text 27"/>
          <p:cNvSpPr/>
          <p:nvPr/>
        </p:nvSpPr>
        <p:spPr>
          <a:xfrm>
            <a:off x="4550512" y="4562856"/>
            <a:ext cx="310896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(Sequelize)  +  OCR (Prisma) schemas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90408" y="452628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0408" y="4599432"/>
            <a:ext cx="82296" cy="7223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2" name="Text 30"/>
          <p:cNvSpPr/>
          <p:nvPr/>
        </p:nvSpPr>
        <p:spPr>
          <a:xfrm>
            <a:off x="8436712" y="4562856"/>
            <a:ext cx="310896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 (CFDI)  ·  Epicor ERP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209648" y="4069080"/>
            <a:ext cx="0" cy="45720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095848" y="4069080"/>
            <a:ext cx="0" cy="45720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982048" y="4069080"/>
            <a:ext cx="0" cy="45720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502920" y="56692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i="1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Two-schema design: the OCR pipeline writes to a Prisma "ocr" schema; the approval workflow runs on the Sequelize public.invoices table. A bridge promotes OCR records into the workflow using a shared invoice id.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42416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42416"/>
            <a:ext cx="12191695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INGESTION SERVICE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1 - Ingestion &amp; Validation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Martinrea AP  |  Invoice Processing Workflow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2468880" cy="1005840"/>
          </a:xfrm>
          <a:prstGeom prst="roundRect">
            <a:avLst>
              <a:gd name="adj" fmla="val 5455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901952"/>
            <a:ext cx="82296" cy="859536"/>
          </a:xfrm>
          <a:prstGeom prst="rect">
            <a:avLst/>
          </a:prstGeom>
          <a:solidFill>
            <a:srgbClr val="566B76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" y="1865376"/>
            <a:ext cx="21945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· SFTP · Web upload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99232" y="2331720"/>
            <a:ext cx="411480" cy="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10712" y="182880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0712" y="1901952"/>
            <a:ext cx="82296" cy="8595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3557016" y="1865376"/>
            <a:ext cx="24688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Pre-Processing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validateAndHandoff()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81344" y="2331720"/>
            <a:ext cx="457200" cy="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75120" y="182880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FBEFD6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21424" y="1865376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 file?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39712" y="2468880"/>
            <a:ext cx="1408176" cy="274320"/>
          </a:xfrm>
          <a:prstGeom prst="roundRect">
            <a:avLst>
              <a:gd name="adj" fmla="val 20000"/>
            </a:avLst>
          </a:prstGeom>
          <a:solidFill>
            <a:srgbClr val="E08A00"/>
          </a:solidFill>
          <a:ln/>
        </p:spPr>
      </p:sp>
      <p:sp>
        <p:nvSpPr>
          <p:cNvPr id="19" name="Text 17"/>
          <p:cNvSpPr/>
          <p:nvPr/>
        </p:nvSpPr>
        <p:spPr>
          <a:xfrm>
            <a:off x="6839712" y="246888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430768" y="2103120"/>
            <a:ext cx="548640" cy="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293608" y="17739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006840" y="1417320"/>
            <a:ext cx="2697480" cy="868680"/>
          </a:xfrm>
          <a:prstGeom prst="roundRect">
            <a:avLst>
              <a:gd name="adj" fmla="val 6316"/>
            </a:avLst>
          </a:prstGeom>
          <a:solidFill>
            <a:srgbClr val="EAF4EC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53144" y="145389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Blob: raw/  (accepted)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171432" y="1920240"/>
            <a:ext cx="2368296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25" name="Text 23"/>
          <p:cNvSpPr/>
          <p:nvPr/>
        </p:nvSpPr>
        <p:spPr>
          <a:xfrm>
            <a:off x="9171432" y="1920240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queued for OCR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30768" y="2606040"/>
            <a:ext cx="548640" cy="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293608" y="22768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006840" y="2395728"/>
            <a:ext cx="2697480" cy="868680"/>
          </a:xfrm>
          <a:prstGeom prst="roundRect">
            <a:avLst>
              <a:gd name="adj" fmla="val 6316"/>
            </a:avLst>
          </a:prstGeom>
          <a:solidFill>
            <a:srgbClr val="F7E6E6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53144" y="243230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Blob: quarantine/  (rejected)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171432" y="2898648"/>
            <a:ext cx="2368296" cy="27432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/>
        </p:spPr>
      </p:sp>
      <p:sp>
        <p:nvSpPr>
          <p:cNvPr id="31" name="Text 29"/>
          <p:cNvSpPr/>
          <p:nvPr/>
        </p:nvSpPr>
        <p:spPr>
          <a:xfrm>
            <a:off x="9171432" y="2898648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DEAD-END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36118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gate (single funnel for every channel):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02920" y="3931920"/>
            <a:ext cx="5669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 empty buffers and files over MAX_FILE_BYTES (10 MB default).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 MIME by magic bytes, not file extension.</a:t>
            </a:r>
            <a:endParaRPr lang="en-US" sz="1200" dirty="0"/>
          </a:p>
          <a:p>
            <a:pPr lvl="1" marL="457200" indent="-228600"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Allowlist: PDF, JPEG, PNG, TIFF, XML (CFDI).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content hash for downstream de-duplication.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any failure: push to quarantine (best-effort, never throws).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46520" y="3931920"/>
            <a:ext cx="5239512" cy="2148840"/>
          </a:xfrm>
          <a:prstGeom prst="roundRect">
            <a:avLst>
              <a:gd name="adj" fmla="val 2553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4023360"/>
            <a:ext cx="91440" cy="19659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6" name="Text 34"/>
          <p:cNvSpPr/>
          <p:nvPr/>
        </p:nvSpPr>
        <p:spPr>
          <a:xfrm>
            <a:off x="6647688" y="4059936"/>
            <a:ext cx="4910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47688" y="4462272"/>
            <a:ext cx="487375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misconfigured channel can never silently drop an invoice -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non-local adapters fail loudly at boot if credentials are missing.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Accepted documents land under raw/ where the OCR poller picks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them up; rejected payloads + reason are retained in quarantine/.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42416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42416"/>
            <a:ext cx="12191695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SERVICE (OCR APP)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2 - OCR Pipeline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Martinrea AP  |  Invoice Processing Workflow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2542032" cy="1143000"/>
          </a:xfrm>
          <a:prstGeom prst="roundRect">
            <a:avLst>
              <a:gd name="adj" fmla="val 4800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56232"/>
            <a:ext cx="82296" cy="996696"/>
          </a:xfrm>
          <a:prstGeom prst="rect">
            <a:avLst/>
          </a:prstGeom>
          <a:solidFill>
            <a:srgbClr val="566B76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" y="1819656"/>
            <a:ext cx="2267712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Blob: raw/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folder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72384" y="2354580"/>
            <a:ext cx="274320" cy="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935224" y="202539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poll ~2 min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74136" y="1783080"/>
            <a:ext cx="2542032" cy="1143000"/>
          </a:xfrm>
          <a:prstGeom prst="roundRect">
            <a:avLst>
              <a:gd name="adj" fmla="val 4800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74136" y="1856232"/>
            <a:ext cx="82296" cy="996696"/>
          </a:xfrm>
          <a:prstGeom prst="rect">
            <a:avLst/>
          </a:prstGeom>
          <a:solidFill>
            <a:srgbClr val="566B76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819656"/>
            <a:ext cx="22677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Auto-ingest poller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invoice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38728" y="2560320"/>
            <a:ext cx="2212848" cy="274320"/>
          </a:xfrm>
          <a:prstGeom prst="roundRect">
            <a:avLst>
              <a:gd name="adj" fmla="val 20000"/>
            </a:avLst>
          </a:prstGeom>
          <a:solidFill>
            <a:srgbClr val="566B76"/>
          </a:solidFill>
          <a:ln/>
        </p:spPr>
      </p:sp>
      <p:sp>
        <p:nvSpPr>
          <p:cNvPr id="17" name="Text 15"/>
          <p:cNvSpPr/>
          <p:nvPr/>
        </p:nvSpPr>
        <p:spPr>
          <a:xfrm>
            <a:off x="3538728" y="256032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2354580"/>
            <a:ext cx="274320" cy="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806440" y="202539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OCR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45352" y="1783080"/>
            <a:ext cx="2542032" cy="1143000"/>
          </a:xfrm>
          <a:prstGeom prst="roundRect">
            <a:avLst>
              <a:gd name="adj" fmla="val 4800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45352" y="1856232"/>
            <a:ext cx="82296" cy="996696"/>
          </a:xfrm>
          <a:prstGeom prst="rect">
            <a:avLst/>
          </a:prstGeom>
          <a:solidFill>
            <a:srgbClr val="E08A00"/>
          </a:solidFill>
          <a:ln/>
        </p:spPr>
      </p:sp>
      <p:sp>
        <p:nvSpPr>
          <p:cNvPr id="22" name="Text 20"/>
          <p:cNvSpPr/>
          <p:nvPr/>
        </p:nvSpPr>
        <p:spPr>
          <a:xfrm>
            <a:off x="6391656" y="1819656"/>
            <a:ext cx="22677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 + parse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fields &amp; detectors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9944" y="2560320"/>
            <a:ext cx="2212848" cy="274320"/>
          </a:xfrm>
          <a:prstGeom prst="roundRect">
            <a:avLst>
              <a:gd name="adj" fmla="val 20000"/>
            </a:avLst>
          </a:prstGeom>
          <a:solidFill>
            <a:srgbClr val="E08A0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9944" y="256032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OCR_PROCESSING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814816" y="2354580"/>
            <a:ext cx="274320" cy="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8677656" y="202539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116568" y="1783080"/>
            <a:ext cx="2542032" cy="1143000"/>
          </a:xfrm>
          <a:prstGeom prst="roundRect">
            <a:avLst>
              <a:gd name="adj" fmla="val 4800"/>
            </a:avLst>
          </a:prstGeom>
          <a:solidFill>
            <a:srgbClr val="FBEFD6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16568" y="1856232"/>
            <a:ext cx="82296" cy="996696"/>
          </a:xfrm>
          <a:prstGeom prst="rect">
            <a:avLst/>
          </a:prstGeom>
          <a:solidFill>
            <a:srgbClr val="E08A00"/>
          </a:solidFill>
          <a:ln/>
        </p:spPr>
      </p:sp>
      <p:sp>
        <p:nvSpPr>
          <p:cNvPr id="29" name="Text 27"/>
          <p:cNvSpPr/>
          <p:nvPr/>
        </p:nvSpPr>
        <p:spPr>
          <a:xfrm>
            <a:off x="9262872" y="1819656"/>
            <a:ext cx="22677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Result?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281160" y="2560320"/>
            <a:ext cx="2212848" cy="274320"/>
          </a:xfrm>
          <a:prstGeom prst="roundRect">
            <a:avLst>
              <a:gd name="adj" fmla="val 20000"/>
            </a:avLst>
          </a:prstGeom>
          <a:solidFill>
            <a:srgbClr val="E08A00"/>
          </a:solidFill>
          <a:ln/>
        </p:spPr>
      </p:sp>
      <p:sp>
        <p:nvSpPr>
          <p:cNvPr id="31" name="Text 29"/>
          <p:cNvSpPr/>
          <p:nvPr/>
        </p:nvSpPr>
        <p:spPr>
          <a:xfrm>
            <a:off x="9281160" y="256032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1686032" y="1828800"/>
            <a:ext cx="411480" cy="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2115800" y="1481328"/>
            <a:ext cx="2377440" cy="603504"/>
          </a:xfrm>
          <a:prstGeom prst="roundRect">
            <a:avLst>
              <a:gd name="adj" fmla="val 9091"/>
            </a:avLst>
          </a:prstGeom>
          <a:solidFill>
            <a:srgbClr val="EAF4EC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262104" y="1517904"/>
            <a:ext cx="2103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extract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2280392" y="1719072"/>
            <a:ext cx="2048256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36" name="Text 34"/>
          <p:cNvSpPr/>
          <p:nvPr/>
        </p:nvSpPr>
        <p:spPr>
          <a:xfrm>
            <a:off x="12280392" y="1719072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PENDING_REVIEW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Off-ramps from OCR: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02920" y="3611880"/>
            <a:ext cx="2926080" cy="731520"/>
          </a:xfrm>
          <a:prstGeom prst="roundRect">
            <a:avLst>
              <a:gd name="adj" fmla="val 7500"/>
            </a:avLst>
          </a:prstGeom>
          <a:solidFill>
            <a:srgbClr val="F7E6E6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" y="364845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supplier + number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7512" y="3977640"/>
            <a:ext cx="2596896" cy="27432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" y="3977640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DUPLICATE_INVOICE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703320" y="3611880"/>
            <a:ext cx="2926080" cy="731520"/>
          </a:xfrm>
          <a:prstGeom prst="roundRect">
            <a:avLst>
              <a:gd name="adj" fmla="val 7500"/>
            </a:avLst>
          </a:prstGeom>
          <a:solidFill>
            <a:srgbClr val="F7E6E6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9624" y="364845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 fails (max retries)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867912" y="3977640"/>
            <a:ext cx="2596896" cy="27432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/>
        </p:spPr>
      </p:sp>
      <p:sp>
        <p:nvSpPr>
          <p:cNvPr id="45" name="Text 43"/>
          <p:cNvSpPr/>
          <p:nvPr/>
        </p:nvSpPr>
        <p:spPr>
          <a:xfrm>
            <a:off x="3867912" y="3977640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46520" y="3611880"/>
            <a:ext cx="5239512" cy="2377440"/>
          </a:xfrm>
          <a:prstGeom prst="roundRect">
            <a:avLst>
              <a:gd name="adj" fmla="val 2308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46520" y="3703320"/>
            <a:ext cx="91440" cy="2194560"/>
          </a:xfrm>
          <a:prstGeom prst="rect">
            <a:avLst/>
          </a:prstGeom>
          <a:solidFill>
            <a:srgbClr val="E08A00"/>
          </a:solidFill>
          <a:ln/>
        </p:spPr>
      </p:sp>
      <p:sp>
        <p:nvSpPr>
          <p:cNvPr id="48" name="Text 46"/>
          <p:cNvSpPr/>
          <p:nvPr/>
        </p:nvSpPr>
        <p:spPr>
          <a:xfrm>
            <a:off x="6647688" y="3739896"/>
            <a:ext cx="4910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647688" y="4142232"/>
            <a:ext cx="4873752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bucket is the contract - no message bus. Dedup on the stored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filename keeps the poller idempotent across restarts.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successfully OCR-ed invoice lands in PENDING_REVIEW so an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 clerk verifies the extracted fields before matching - even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high-confidence scans (a "verify" banner flags low-confidence ones).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42416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42416"/>
            <a:ext cx="12191695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CONNECTING TWO SCHEMAS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OCR -&gt; Workflow Bridge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Martinrea AP  |  Invoice Processing Workflow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 and approvals live in separate database schemas. The bridge promotes each OCR-extracted invoice into the approval workflow so it becomes visible to the dashboard and approvals queue.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3749040" cy="1280160"/>
          </a:xfrm>
          <a:prstGeom prst="roundRect">
            <a:avLst>
              <a:gd name="adj" fmla="val 4286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404872"/>
            <a:ext cx="82296" cy="1133856"/>
          </a:xfrm>
          <a:prstGeom prst="rect">
            <a:avLst/>
          </a:prstGeom>
          <a:solidFill>
            <a:srgbClr val="E08A00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" y="2368296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 pipeline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 "ocr" schema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" y="3246120"/>
            <a:ext cx="3419856" cy="274320"/>
          </a:xfrm>
          <a:prstGeom prst="roundRect">
            <a:avLst>
              <a:gd name="adj" fmla="val 20000"/>
            </a:avLst>
          </a:prstGeom>
          <a:solidFill>
            <a:srgbClr val="E08A00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3246120"/>
            <a:ext cx="3419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PENDING_REVIEW (OCR)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79392" y="2971800"/>
            <a:ext cx="960120" cy="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142232" y="264261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promote (shared id)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57800" y="2331720"/>
            <a:ext cx="3749040" cy="1280160"/>
          </a:xfrm>
          <a:prstGeom prst="roundRect">
            <a:avLst>
              <a:gd name="adj" fmla="val 4286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57800" y="2404872"/>
            <a:ext cx="82296" cy="11338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5404104" y="2368296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workflow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Sequelize public.invoices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22392" y="3246120"/>
            <a:ext cx="3419856" cy="274320"/>
          </a:xfrm>
          <a:prstGeom prst="roundRect">
            <a:avLst>
              <a:gd name="adj" fmla="val 20000"/>
            </a:avLst>
          </a:prstGeom>
          <a:solidFill>
            <a:srgbClr val="E08A00"/>
          </a:solidFill>
          <a:ln/>
        </p:spPr>
      </p:sp>
      <p:sp>
        <p:nvSpPr>
          <p:cNvPr id="20" name="Text 18"/>
          <p:cNvSpPr/>
          <p:nvPr/>
        </p:nvSpPr>
        <p:spPr>
          <a:xfrm>
            <a:off x="5422392" y="3246120"/>
            <a:ext cx="3419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PENDING_REVIEW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57800" y="3886200"/>
            <a:ext cx="3749040" cy="822960"/>
          </a:xfrm>
          <a:prstGeom prst="roundRect">
            <a:avLst>
              <a:gd name="adj" fmla="val 6667"/>
            </a:avLst>
          </a:prstGeom>
          <a:solidFill>
            <a:srgbClr val="EAF4EC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57800" y="3959352"/>
            <a:ext cx="82296" cy="6766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5404104" y="3922776"/>
            <a:ext cx="3474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CFDI flagged? -&gt; Integrations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 validation sets cfdi_valid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32320" y="3630168"/>
            <a:ext cx="0" cy="237744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9281160" y="233172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on a schedule (cron).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Idempotent: each OCR record promoted once.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Dedupes on shared id and unique invoice number.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Mexican (CFDI) invoices are routed to SAT validation before they can match.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507492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id works for both /api/invoices/:id (lifecycle) and /api/ocr/invoices/:id (extracted fields + document).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42416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42416"/>
            <a:ext cx="12191695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SERVICE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3 - Review &amp; 2-Way Match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Martinrea AP  |  Invoice Processing Workflow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56232"/>
            <a:ext cx="82296" cy="1042416"/>
          </a:xfrm>
          <a:prstGeom prst="rect">
            <a:avLst/>
          </a:prstGeom>
          <a:solidFill>
            <a:srgbClr val="E08A00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" y="1819656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Clerk verifies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extracted fields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2606040"/>
            <a:ext cx="2276856" cy="274320"/>
          </a:xfrm>
          <a:prstGeom prst="roundRect">
            <a:avLst>
              <a:gd name="adj" fmla="val 20000"/>
            </a:avLst>
          </a:prstGeom>
          <a:solidFill>
            <a:srgbClr val="E08A00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2606040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PENDING_REVIEW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36392" y="2377440"/>
            <a:ext cx="310896" cy="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999232" y="2048256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to match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74720" y="178308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856232"/>
            <a:ext cx="82296" cy="1042416"/>
          </a:xfrm>
          <a:prstGeom prst="rect">
            <a:avLst/>
          </a:prstGeom>
          <a:solidFill>
            <a:srgbClr val="E08A00"/>
          </a:solidFill>
          <a:ln/>
        </p:spPr>
      </p:sp>
      <p:sp>
        <p:nvSpPr>
          <p:cNvPr id="17" name="Text 15"/>
          <p:cNvSpPr/>
          <p:nvPr/>
        </p:nvSpPr>
        <p:spPr>
          <a:xfrm>
            <a:off x="3621024" y="1819656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match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vs PO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39312" y="2606040"/>
            <a:ext cx="2276856" cy="274320"/>
          </a:xfrm>
          <a:prstGeom prst="roundRect">
            <a:avLst>
              <a:gd name="adj" fmla="val 20000"/>
            </a:avLst>
          </a:prstGeom>
          <a:solidFill>
            <a:srgbClr val="E08A00"/>
          </a:solidFill>
          <a:ln/>
        </p:spPr>
      </p:sp>
      <p:sp>
        <p:nvSpPr>
          <p:cNvPr id="19" name="Text 17"/>
          <p:cNvSpPr/>
          <p:nvPr/>
        </p:nvSpPr>
        <p:spPr>
          <a:xfrm>
            <a:off x="3639312" y="2606040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PENDING_MATCH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08192" y="2377440"/>
            <a:ext cx="310896" cy="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971032" y="2048256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2-way match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46520" y="178308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FBEFD6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1856232"/>
            <a:ext cx="82296" cy="1042416"/>
          </a:xfrm>
          <a:prstGeom prst="rect">
            <a:avLst/>
          </a:prstGeom>
          <a:solidFill>
            <a:srgbClr val="E08A00"/>
          </a:solidFill>
          <a:ln/>
        </p:spPr>
      </p:sp>
      <p:sp>
        <p:nvSpPr>
          <p:cNvPr id="24" name="Text 22"/>
          <p:cNvSpPr/>
          <p:nvPr/>
        </p:nvSpPr>
        <p:spPr>
          <a:xfrm>
            <a:off x="6592824" y="1819656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 passes?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±2% + CFDI guard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11112" y="2606040"/>
            <a:ext cx="2276856" cy="274320"/>
          </a:xfrm>
          <a:prstGeom prst="roundRect">
            <a:avLst>
              <a:gd name="adj" fmla="val 20000"/>
            </a:avLst>
          </a:prstGeom>
          <a:solidFill>
            <a:srgbClr val="E08A00"/>
          </a:solidFill>
          <a:ln/>
        </p:spPr>
      </p:sp>
      <p:sp>
        <p:nvSpPr>
          <p:cNvPr id="26" name="Text 24"/>
          <p:cNvSpPr/>
          <p:nvPr/>
        </p:nvSpPr>
        <p:spPr>
          <a:xfrm>
            <a:off x="6611112" y="2606040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079992" y="2057400"/>
            <a:ext cx="457200" cy="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942832" y="172821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blocking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555480" y="1783080"/>
            <a:ext cx="2377440" cy="1188720"/>
          </a:xfrm>
          <a:prstGeom prst="roundRect">
            <a:avLst>
              <a:gd name="adj" fmla="val 4615"/>
            </a:avLst>
          </a:prstGeom>
          <a:solidFill>
            <a:srgbClr val="EAF4EC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01784" y="1819656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Matched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720072" y="2606040"/>
            <a:ext cx="2048256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32" name="Text 30"/>
          <p:cNvSpPr/>
          <p:nvPr/>
        </p:nvSpPr>
        <p:spPr>
          <a:xfrm>
            <a:off x="9720072" y="2606040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44968" y="2990088"/>
            <a:ext cx="0" cy="50292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7818120" y="30952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355080" y="3520440"/>
            <a:ext cx="2743200" cy="822960"/>
          </a:xfrm>
          <a:prstGeom prst="roundRect">
            <a:avLst>
              <a:gd name="adj" fmla="val 6667"/>
            </a:avLst>
          </a:prstGeom>
          <a:solidFill>
            <a:srgbClr val="F7E6E6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01384" y="35570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Discrepancy flagged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519672" y="3977640"/>
            <a:ext cx="2414016" cy="27432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/>
        </p:spPr>
      </p:sp>
      <p:sp>
        <p:nvSpPr>
          <p:cNvPr id="38" name="Text 36"/>
          <p:cNvSpPr/>
          <p:nvPr/>
        </p:nvSpPr>
        <p:spPr>
          <a:xfrm>
            <a:off x="6519672" y="3977640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144000" y="3931920"/>
            <a:ext cx="457200" cy="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9006840" y="36027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601200" y="352044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F7E6E6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47504" y="355701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Unrecoverable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9765792" y="3977640"/>
            <a:ext cx="2048256" cy="27432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/>
        </p:spPr>
      </p:sp>
      <p:sp>
        <p:nvSpPr>
          <p:cNvPr id="44" name="Text 42"/>
          <p:cNvSpPr/>
          <p:nvPr/>
        </p:nvSpPr>
        <p:spPr>
          <a:xfrm>
            <a:off x="9765792" y="3977640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REJECTED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" y="365760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2-way match compares the invoice against its Purchase Order.</a:t>
            </a:r>
            <a:endParaRPr lang="en-US" sz="1150" dirty="0"/>
          </a:p>
          <a:p>
            <a:pPr lvl="1" marL="457200" indent="-228600">
              <a:spcAft>
                <a:spcPts val="700"/>
              </a:spcAft>
              <a:buSzPct val="100000"/>
              <a:buChar char="–"/>
            </a:pPr>
            <a:r>
              <a:rPr lang="en-US" sz="1000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Blocking: missing/unknown PO, currency mismatch, total over the +/-2% tolerance.</a:t>
            </a:r>
            <a:endParaRPr lang="en-US" sz="1150" dirty="0"/>
          </a:p>
          <a:p>
            <a:pPr lvl="1" marL="457200" indent="-228600">
              <a:spcAft>
                <a:spcPts val="700"/>
              </a:spcAft>
              <a:buSzPct val="100000"/>
              <a:buChar char="–"/>
            </a:pPr>
            <a:r>
              <a:rPr lang="en-US" sz="1000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Non-blocking: supplier-name differences (recorded, not gating).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CFDI guard: an invoice with cfdi_valid = false cannot reach MATCHED (SAT compliance).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EXCEPTION resolves back to PENDING_MATCH (fixed) or to REJECTED.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02920" y="598932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 and "route for approval" are two explicit steps - the invoice rests in MATCHED before entering the approval chain.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42416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42416"/>
            <a:ext cx="12191695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SERVICE + RULES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4 - Approval Routing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Martinrea AP  |  Invoice Processing Workflow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submit-for-approval the Rules Engine builds an ordered approver chain from the invoice amount and plant.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029968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566B7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02996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&lt;= $10,000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82880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901952"/>
            <a:ext cx="82296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3392424" y="1865376"/>
            <a:ext cx="1554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Director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889504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566B7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8950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 $10,000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2688336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2761488"/>
            <a:ext cx="82296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3392424" y="2724912"/>
            <a:ext cx="1554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Plant Manager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02352" y="3044952"/>
            <a:ext cx="402336" cy="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532120" y="2688336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32120" y="2761488"/>
            <a:ext cx="82296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5678424" y="2724912"/>
            <a:ext cx="1554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Director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749040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566B76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74904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 $50,000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3547872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3621024"/>
            <a:ext cx="82296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3392424" y="3584448"/>
            <a:ext cx="1554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Plant Manager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02352" y="3904488"/>
            <a:ext cx="402336" cy="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532120" y="3547872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32120" y="3621024"/>
            <a:ext cx="82296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/>
          <p:nvPr/>
        </p:nvSpPr>
        <p:spPr>
          <a:xfrm>
            <a:off x="5678424" y="3584448"/>
            <a:ext cx="1554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Director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88352" y="3904488"/>
            <a:ext cx="402336" cy="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818120" y="3547872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18120" y="3621024"/>
            <a:ext cx="82296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5" name="Text 33"/>
          <p:cNvSpPr/>
          <p:nvPr/>
        </p:nvSpPr>
        <p:spPr>
          <a:xfrm>
            <a:off x="7964424" y="3584448"/>
            <a:ext cx="1554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VP Finance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4526280"/>
            <a:ext cx="2926080" cy="868680"/>
          </a:xfrm>
          <a:prstGeom prst="roundRect">
            <a:avLst>
              <a:gd name="adj" fmla="val 6316"/>
            </a:avLst>
          </a:prstGeom>
          <a:solidFill>
            <a:srgbClr val="FBEFD6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" y="456285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approver signs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67512" y="5029200"/>
            <a:ext cx="2596896" cy="274320"/>
          </a:xfrm>
          <a:prstGeom prst="roundRect">
            <a:avLst>
              <a:gd name="adj" fmla="val 20000"/>
            </a:avLst>
          </a:prstGeom>
          <a:solidFill>
            <a:srgbClr val="E08A00"/>
          </a:solidFill>
          <a:ln/>
        </p:spPr>
      </p:sp>
      <p:sp>
        <p:nvSpPr>
          <p:cNvPr id="39" name="Text 37"/>
          <p:cNvSpPr/>
          <p:nvPr/>
        </p:nvSpPr>
        <p:spPr>
          <a:xfrm>
            <a:off x="667512" y="5029200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PENDING_APPROVAL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56432" y="4965192"/>
            <a:ext cx="502920" cy="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3319272" y="463600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chain complete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959352" y="452628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EAF4EC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05656" y="456285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sign-off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123944" y="5029200"/>
            <a:ext cx="2414016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45" name="Text 43"/>
          <p:cNvSpPr/>
          <p:nvPr/>
        </p:nvSpPr>
        <p:spPr>
          <a:xfrm>
            <a:off x="4123944" y="5029200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729984" y="4965192"/>
            <a:ext cx="502920" cy="0"/>
          </a:xfrm>
          <a:prstGeom prst="line">
            <a:avLst/>
          </a:prstGeom>
          <a:noFill/>
          <a:ln w="2540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6592824" y="463600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reject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232904" y="452628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F7E6E6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79208" y="456285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Returned for rework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397496" y="5029200"/>
            <a:ext cx="2414016" cy="27432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/>
        </p:spPr>
      </p:sp>
      <p:sp>
        <p:nvSpPr>
          <p:cNvPr id="51" name="Text 49"/>
          <p:cNvSpPr/>
          <p:nvPr/>
        </p:nvSpPr>
        <p:spPr>
          <a:xfrm>
            <a:off x="7397496" y="5029200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REJECTED -&gt; PENDING_REVIEW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02920" y="5577840"/>
            <a:ext cx="111858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Segregation of duties: only the current approver may act; AP clerks cannot approve. Plant Manager is capped at $50,000 as the final authoriser.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escalation: overdue PENDING_APPROVAL invoices escalate up the org hierarchy (manager -&gt; VP)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42416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42416"/>
            <a:ext cx="12191695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STATE MACHINE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Status Lifecycle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Martinrea AP  |  Invoice Processing Workflow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Happy path (a transition not in the permitted list is rejected with 409 Conflict):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566B7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9164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RECEIVED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1975104" y="1975104"/>
            <a:ext cx="146304" cy="0"/>
          </a:xfrm>
          <a:prstGeom prst="line">
            <a:avLst/>
          </a:prstGeom>
          <a:noFill/>
          <a:ln w="22225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30552" y="169164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E08A00"/>
          </a:solidFill>
          <a:ln/>
        </p:spPr>
      </p:sp>
      <p:sp>
        <p:nvSpPr>
          <p:cNvPr id="13" name="Text 11"/>
          <p:cNvSpPr/>
          <p:nvPr/>
        </p:nvSpPr>
        <p:spPr>
          <a:xfrm>
            <a:off x="2084832" y="169164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A1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OCR_PROCESSING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3602736" y="1975104"/>
            <a:ext cx="146304" cy="0"/>
          </a:xfrm>
          <a:prstGeom prst="line">
            <a:avLst/>
          </a:prstGeom>
          <a:noFill/>
          <a:ln w="22225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58184" y="169164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E08A00"/>
          </a:solidFill>
          <a:ln/>
        </p:spPr>
      </p:sp>
      <p:sp>
        <p:nvSpPr>
          <p:cNvPr id="16" name="Text 14"/>
          <p:cNvSpPr/>
          <p:nvPr/>
        </p:nvSpPr>
        <p:spPr>
          <a:xfrm>
            <a:off x="3712464" y="169164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A1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PENDING_REVIEW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5230368" y="1975104"/>
            <a:ext cx="146304" cy="0"/>
          </a:xfrm>
          <a:prstGeom prst="line">
            <a:avLst/>
          </a:prstGeom>
          <a:noFill/>
          <a:ln w="22225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85816" y="169164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E08A00"/>
          </a:solidFill>
          <a:ln/>
        </p:spPr>
      </p:sp>
      <p:sp>
        <p:nvSpPr>
          <p:cNvPr id="19" name="Text 17"/>
          <p:cNvSpPr/>
          <p:nvPr/>
        </p:nvSpPr>
        <p:spPr>
          <a:xfrm>
            <a:off x="5340096" y="169164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A1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PENDING_MATCH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6858000" y="1975104"/>
            <a:ext cx="146304" cy="0"/>
          </a:xfrm>
          <a:prstGeom prst="line">
            <a:avLst/>
          </a:prstGeom>
          <a:noFill/>
          <a:ln w="22225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013448" y="169164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6967728" y="169164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MATCHED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8485632" y="1975104"/>
            <a:ext cx="146304" cy="0"/>
          </a:xfrm>
          <a:prstGeom prst="line">
            <a:avLst/>
          </a:prstGeom>
          <a:noFill/>
          <a:ln w="22225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641080" y="169164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E08A00"/>
          </a:solidFill>
          <a:ln/>
        </p:spPr>
      </p:sp>
      <p:sp>
        <p:nvSpPr>
          <p:cNvPr id="25" name="Text 23"/>
          <p:cNvSpPr/>
          <p:nvPr/>
        </p:nvSpPr>
        <p:spPr>
          <a:xfrm>
            <a:off x="8595360" y="169164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A1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PENDING_APPROVAL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10113264" y="1975104"/>
            <a:ext cx="146304" cy="0"/>
          </a:xfrm>
          <a:prstGeom prst="line">
            <a:avLst/>
          </a:prstGeom>
          <a:noFill/>
          <a:ln w="22225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268712" y="169164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2E7D32"/>
          </a:solidFill>
          <a:ln/>
        </p:spPr>
      </p:sp>
      <p:sp>
        <p:nvSpPr>
          <p:cNvPr id="28" name="Text 26"/>
          <p:cNvSpPr/>
          <p:nvPr/>
        </p:nvSpPr>
        <p:spPr>
          <a:xfrm>
            <a:off x="10222992" y="169164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10222992" y="229514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2920" y="2743200"/>
            <a:ext cx="11185855" cy="0"/>
          </a:xfrm>
          <a:prstGeom prst="line">
            <a:avLst/>
          </a:prstGeom>
          <a:noFill/>
          <a:ln w="12700">
            <a:solidFill>
              <a:srgbClr val="D6DC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Branches &amp; loops: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4360" y="3246120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E08A00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A1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OCR_PROCESSING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2843784" y="3474720"/>
            <a:ext cx="457200" cy="0"/>
          </a:xfrm>
          <a:prstGeom prst="line">
            <a:avLst/>
          </a:prstGeom>
          <a:noFill/>
          <a:ln w="2032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300984" y="3246120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C62828"/>
          </a:solidFill>
          <a:ln/>
        </p:spPr>
      </p:sp>
      <p:sp>
        <p:nvSpPr>
          <p:cNvPr id="36" name="Text 34"/>
          <p:cNvSpPr/>
          <p:nvPr/>
        </p:nvSpPr>
        <p:spPr>
          <a:xfrm>
            <a:off x="3255264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DUPLICATE_INVOICE / FAILED</a:t>
            </a:r>
            <a:endParaRPr lang="en-US" sz="860" dirty="0"/>
          </a:p>
        </p:txBody>
      </p:sp>
      <p:sp>
        <p:nvSpPr>
          <p:cNvPr id="37" name="Text 35"/>
          <p:cNvSpPr/>
          <p:nvPr/>
        </p:nvSpPr>
        <p:spPr>
          <a:xfrm>
            <a:off x="6099048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duplicate / unreadable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4360" y="3931920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E08A00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931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A1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PENDING_MATCH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2843784" y="4160520"/>
            <a:ext cx="457200" cy="0"/>
          </a:xfrm>
          <a:prstGeom prst="line">
            <a:avLst/>
          </a:prstGeom>
          <a:noFill/>
          <a:ln w="2032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300984" y="3931920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C62828"/>
          </a:solidFill>
          <a:ln/>
        </p:spPr>
      </p:sp>
      <p:sp>
        <p:nvSpPr>
          <p:cNvPr id="42" name="Text 40"/>
          <p:cNvSpPr/>
          <p:nvPr/>
        </p:nvSpPr>
        <p:spPr>
          <a:xfrm>
            <a:off x="3255264" y="3931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EXCEPTION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5550408" y="4160520"/>
            <a:ext cx="457200" cy="0"/>
          </a:xfrm>
          <a:prstGeom prst="line">
            <a:avLst/>
          </a:prstGeom>
          <a:noFill/>
          <a:ln w="2032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007608" y="3931920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C62828"/>
          </a:solidFill>
          <a:ln/>
        </p:spPr>
      </p:sp>
      <p:sp>
        <p:nvSpPr>
          <p:cNvPr id="45" name="Text 43"/>
          <p:cNvSpPr/>
          <p:nvPr/>
        </p:nvSpPr>
        <p:spPr>
          <a:xfrm>
            <a:off x="5961888" y="3931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REJECTED</a:t>
            </a:r>
            <a:endParaRPr lang="en-US" sz="860" dirty="0"/>
          </a:p>
        </p:txBody>
      </p:sp>
      <p:sp>
        <p:nvSpPr>
          <p:cNvPr id="46" name="Text 44"/>
          <p:cNvSpPr/>
          <p:nvPr/>
        </p:nvSpPr>
        <p:spPr>
          <a:xfrm>
            <a:off x="8805672" y="3931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blocking / unrecoverable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94360" y="4617720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C62828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4617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EXCEPTION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2843784" y="4846320"/>
            <a:ext cx="457200" cy="0"/>
          </a:xfrm>
          <a:prstGeom prst="line">
            <a:avLst/>
          </a:prstGeom>
          <a:noFill/>
          <a:ln w="2032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3300984" y="4617720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E08A00"/>
          </a:solidFill>
          <a:ln/>
        </p:spPr>
      </p:sp>
      <p:sp>
        <p:nvSpPr>
          <p:cNvPr id="51" name="Text 49"/>
          <p:cNvSpPr/>
          <p:nvPr/>
        </p:nvSpPr>
        <p:spPr>
          <a:xfrm>
            <a:off x="3255264" y="4617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A1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PENDING_MATCH</a:t>
            </a:r>
            <a:endParaRPr lang="en-US" sz="860" dirty="0"/>
          </a:p>
        </p:txBody>
      </p:sp>
      <p:sp>
        <p:nvSpPr>
          <p:cNvPr id="52" name="Text 50"/>
          <p:cNvSpPr/>
          <p:nvPr/>
        </p:nvSpPr>
        <p:spPr>
          <a:xfrm>
            <a:off x="6099048" y="46177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discrepancy fixed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94360" y="5303520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E08A00"/>
          </a:solidFill>
          <a:ln/>
        </p:spPr>
      </p:sp>
      <p:sp>
        <p:nvSpPr>
          <p:cNvPr id="54" name="Text 52"/>
          <p:cNvSpPr/>
          <p:nvPr/>
        </p:nvSpPr>
        <p:spPr>
          <a:xfrm>
            <a:off x="548640" y="5303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A1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PENDING_APPROVAL</a:t>
            </a:r>
            <a:endParaRPr lang="en-US" sz="860" dirty="0"/>
          </a:p>
        </p:txBody>
      </p:sp>
      <p:sp>
        <p:nvSpPr>
          <p:cNvPr id="55" name="Shape 53"/>
          <p:cNvSpPr/>
          <p:nvPr/>
        </p:nvSpPr>
        <p:spPr>
          <a:xfrm>
            <a:off x="2843784" y="5532120"/>
            <a:ext cx="457200" cy="0"/>
          </a:xfrm>
          <a:prstGeom prst="line">
            <a:avLst/>
          </a:prstGeom>
          <a:noFill/>
          <a:ln w="2032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3300984" y="5303520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C62828"/>
          </a:solidFill>
          <a:ln/>
        </p:spPr>
      </p:sp>
      <p:sp>
        <p:nvSpPr>
          <p:cNvPr id="57" name="Text 55"/>
          <p:cNvSpPr/>
          <p:nvPr/>
        </p:nvSpPr>
        <p:spPr>
          <a:xfrm>
            <a:off x="3255264" y="5303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REJECTED</a:t>
            </a:r>
            <a:endParaRPr lang="en-US" sz="860" dirty="0"/>
          </a:p>
        </p:txBody>
      </p:sp>
      <p:sp>
        <p:nvSpPr>
          <p:cNvPr id="58" name="Shape 56"/>
          <p:cNvSpPr/>
          <p:nvPr/>
        </p:nvSpPr>
        <p:spPr>
          <a:xfrm>
            <a:off x="5550408" y="5532120"/>
            <a:ext cx="457200" cy="0"/>
          </a:xfrm>
          <a:prstGeom prst="line">
            <a:avLst/>
          </a:prstGeom>
          <a:noFill/>
          <a:ln w="20320">
            <a:solidFill>
              <a:srgbClr val="566B76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6007608" y="5303520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E08A00"/>
          </a:solidFill>
          <a:ln/>
        </p:spPr>
      </p:sp>
      <p:sp>
        <p:nvSpPr>
          <p:cNvPr id="60" name="Text 58"/>
          <p:cNvSpPr/>
          <p:nvPr/>
        </p:nvSpPr>
        <p:spPr>
          <a:xfrm>
            <a:off x="5961888" y="5303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A1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PENDING_REVIEW</a:t>
            </a:r>
            <a:endParaRPr lang="en-US" sz="860" dirty="0"/>
          </a:p>
        </p:txBody>
      </p:sp>
      <p:sp>
        <p:nvSpPr>
          <p:cNvPr id="61" name="Text 59"/>
          <p:cNvSpPr/>
          <p:nvPr/>
        </p:nvSpPr>
        <p:spPr>
          <a:xfrm>
            <a:off x="8805672" y="5303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approver rejects -&gt; rework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42416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42416"/>
            <a:ext cx="12191695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LOOKUP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Status Reference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Martinrea AP  |  Invoice Processing Workflow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585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153912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Meaning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Owning track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66B7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RECEIVED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30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 captured and queued for OCR.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Ingestion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08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OCR_PROCESSING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30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OCR + field extraction is running.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OCR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08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PENDING_REVIEW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30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clerk verifies extracted fields.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Review (UI)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08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PENDING_MATCH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30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Awaiting / failing the 2-way match.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Match (UI)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MATCHED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30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Passed the 2-way match; ready to route.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Match (UI)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08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PENDING_APPROVAL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30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the approval chain (one or more approvers).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Workflow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APPROVED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30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Fully approved - terminal; ready to pay.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Workflow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REJECTED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30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Bounced back; returns to PENDING_REVIEW for rework.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Workflow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EXCEPTION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30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Match discrepancy flagged for resolution.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Match / Workflow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DUPLICATE_INVOICE / FAILED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130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OCR-stage dead-ends (duplicate or unreadable).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OCR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42416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42416"/>
            <a:ext cx="12191695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Martinrea AP  |  Invoice Processing Workflow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554480"/>
            <a:ext cx="91440" cy="15544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1591056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" y="1993392"/>
            <a:ext cx="32461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NestJS (TypeScript) microservices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· ingestion · integrations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APIs + scheduled cron jobs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34256" y="1463040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4256" y="1554480"/>
            <a:ext cx="91440" cy="1554480"/>
          </a:xfrm>
          <a:prstGeom prst="rect">
            <a:avLst/>
          </a:prstGeom>
          <a:solidFill>
            <a:srgbClr val="E08A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35424" y="1591056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35424" y="1993392"/>
            <a:ext cx="32461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+ React dashboard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TanStack Query data layer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/ match / approvals UIs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65592" y="1463040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65592" y="1554480"/>
            <a:ext cx="91440" cy="1554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591056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66760" y="1993392"/>
            <a:ext cx="32461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(Flyway migrations)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Sequelize (workflow) + Prisma (OCR)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Append-only audit log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383280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474720"/>
            <a:ext cx="91440" cy="1554480"/>
          </a:xfrm>
          <a:prstGeom prst="rect">
            <a:avLst/>
          </a:prstGeom>
          <a:solidFill>
            <a:srgbClr val="566B76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3511296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Processing &amp; queues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" y="3913632"/>
            <a:ext cx="32461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Tesseract / pdf-parse OCR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Redis + BullMQ background jobs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Server-side rules + state machine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34256" y="3383280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34256" y="3474720"/>
            <a:ext cx="91440" cy="15544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6" name="Text 24"/>
          <p:cNvSpPr/>
          <p:nvPr/>
        </p:nvSpPr>
        <p:spPr>
          <a:xfrm>
            <a:off x="4535424" y="3511296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Integrations &amp; storage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35424" y="3913632"/>
            <a:ext cx="32461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Blob: OCI Object Storage / SharePoint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(IMAP / MS Graph), SFTP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 CFDI validation, Epicor ERP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65592" y="3383280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F5F7F9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65592" y="3474720"/>
            <a:ext cx="91440" cy="1554480"/>
          </a:xfrm>
          <a:prstGeom prst="rect">
            <a:avLst/>
          </a:prstGeom>
          <a:solidFill>
            <a:srgbClr val="E08A00"/>
          </a:solidFill>
          <a:ln/>
        </p:spPr>
      </p:sp>
      <p:sp>
        <p:nvSpPr>
          <p:cNvPr id="30" name="Text 28"/>
          <p:cNvSpPr/>
          <p:nvPr/>
        </p:nvSpPr>
        <p:spPr>
          <a:xfrm>
            <a:off x="8366760" y="3511296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66760" y="3913632"/>
            <a:ext cx="32461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Compose + Kubernetes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(auth) + JWT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 via GitHub Actions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539496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docs/STACK_DECISIONS.md for the full rationale.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42416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42416"/>
            <a:ext cx="12191695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WRAP-UP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Martinrea AP  |  Invoice Processing Workflow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1118585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funnel in, one status out at every step.</a:t>
            </a:r>
            <a:endParaRPr lang="en-US" sz="1600" dirty="0"/>
          </a:p>
          <a:p>
            <a:pPr lvl="1" marL="457200" indent="-228600"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three channels (email, SFTP, web) share a single validation gate before anything is stored.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strict state machine governs the lifecycle.</a:t>
            </a:r>
            <a:endParaRPr lang="en-US" sz="1600" dirty="0"/>
          </a:p>
          <a:p>
            <a:pPr lvl="1" marL="457200" indent="-228600"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RECEIVED -&gt; OCR_PROCESSING -&gt; PENDING_REVIEW -&gt; PENDING_MATCH -&gt; MATCHED -&gt; PENDING_APPROVAL -&gt; APPROVED, with EXCEPTION and REJECTED off-ramps.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Humans verify; the system enforces.</a:t>
            </a:r>
            <a:endParaRPr lang="en-US" sz="1600" dirty="0"/>
          </a:p>
          <a:p>
            <a:pPr lvl="1" marL="457200" indent="-228600"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invoice is reviewed by a clerk; the 2-way match (+/-2%) and CFDI guard gate progress; segregation of duties governs approvals.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Auditable end-to-end.</a:t>
            </a:r>
            <a:endParaRPr lang="en-US" sz="1600" dirty="0"/>
          </a:p>
          <a:p>
            <a:pPr lvl="1" marL="457200" indent="-228600"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213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transition and approval is written to an append-only audit log.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Martinrea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Martinrea AP - Invoice Processing Workflow</dc:title>
  <dc:subject>PptxGenJS Presentation</dc:subject>
  <dc:creator>Martinrea AP</dc:creator>
  <cp:lastModifiedBy>Martinrea AP</cp:lastModifiedBy>
  <cp:revision>1</cp:revision>
  <dcterms:created xsi:type="dcterms:W3CDTF">2026-06-24T10:16:28Z</dcterms:created>
  <dcterms:modified xsi:type="dcterms:W3CDTF">2026-06-24T10:16:28Z</dcterms:modified>
</cp:coreProperties>
</file>